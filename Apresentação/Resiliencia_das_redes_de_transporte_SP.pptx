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10287000" cx="18288000"/>
  <p:notesSz cx="10287000" cy="1828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714825" y="1371600"/>
            <a:ext cx="6858325" cy="6858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028700" y="8686800"/>
            <a:ext cx="82296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Apresentação da proposta do projeto (Parte 1) de Teoria dos Grafos: resiliência da rede de Trem e Metrô de São Paulo.</a:t>
            </a:r>
            <a:endParaRPr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" name="Google Shape;34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malha de Metrô e CPTM da Região Metropolitana é uma das maiores do mundo. Milhões de pessoas dependem dela, e uma falha pontual tende a afetar a rede inteira.</a:t>
            </a:r>
            <a:endParaRPr/>
          </a:p>
        </p:txBody>
      </p:sp>
      <p:sp>
        <p:nvSpPr>
          <p:cNvPr id="35" name="Google Shape;35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objetivo é modelar a rede como grafo para analisar a resiliência, identificar gargalos e avaliar o impacto de interrupções no fluxo de passageiros.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Benefício social de mapear pontos sensíveis e propor rotas alternativas; grafos são a abordagem natural para redes físicas; tema relevante em Computação e Engenharia de Transportes.</a:t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projeto se alinha ao ODS 11, por tratar da mobilidade urbana, e ao ODS 9, por tratar de infraestrutura confiável e resiliente.</a:t>
            </a:r>
            <a:endParaRPr/>
          </a:p>
        </p:txBody>
      </p:sp>
      <p:sp>
        <p:nvSpPr>
          <p:cNvPr id="103" name="Google Shape;103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Vértices são as estações, com seus atributos. Arestas são conexões diretas entre estações consecutivas da mesma linha.</a:t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grafo é não orientado, com peso nos vértices e nas arestas (categoria 3). O peso da aresta é o tempo de deslocamento, e cada conexão vale nos dois sentidos.</a:t>
            </a:r>
            <a:endParaRPr/>
          </a:p>
        </p:txBody>
      </p:sp>
      <p:sp>
        <p:nvSpPr>
          <p:cNvPr id="151" name="Google Shape;15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2" name="Google Shape;172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Recorte sintético com oito estações da região central. As arestas estão coloridas por linha e os pesos, em minutos, são apenas ilustrativos.</a:t>
            </a:r>
            <a:endParaRPr/>
          </a:p>
        </p:txBody>
      </p:sp>
      <p:sp>
        <p:nvSpPr>
          <p:cNvPr id="173" name="Google Shape;173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 problema central é analisar o grafo após a remoção de vértices e arestas. Usaremos Dijkstra e métricas de centralidade, em Python, com visualização no Graph Online ou Gephi. A rede completa terá ao menos 80 vértices e 200 arestas.</a:t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Próximas etapas: coleta dos dados reais, construção do grafo completo e implementação das análises. Abrir para perguntas.</a:t>
            </a:r>
            <a:endParaRPr/>
          </a:p>
        </p:txBody>
      </p:sp>
      <p:sp>
        <p:nvSpPr>
          <p:cNvPr id="229" name="Google Shape;22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h81bc347f04d15b3_1_4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h81bc347f04d15b3_1_4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Próximas etapas: coleta dos dados reais, construção do grafo completo e implementação das análises. Abrir para perguntas.</a:t>
            </a:r>
            <a:endParaRPr/>
          </a:p>
        </p:txBody>
      </p:sp>
      <p:sp>
        <p:nvSpPr>
          <p:cNvPr id="255" name="Google Shape;255;h81bc347f04d15b3_1_4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h81bc347f04d15b3_1_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0" name="Google Shape;280;h81bc347f04d15b3_1_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Próximas etapas: coleta dos dados reais, construção do grafo completo e implementação das análises. Abrir para perguntas.</a:t>
            </a:r>
            <a:endParaRPr/>
          </a:p>
        </p:txBody>
      </p:sp>
      <p:sp>
        <p:nvSpPr>
          <p:cNvPr id="281" name="Google Shape;281;h81bc347f04d15b3_1_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952500" y="762000"/>
            <a:ext cx="61407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F5F4F0"/>
                </a:solidFill>
                <a:latin typeface="Courier New"/>
                <a:ea typeface="Courier New"/>
                <a:cs typeface="Courier New"/>
                <a:sym typeface="Courier New"/>
              </a:rPr>
              <a:t>Universidade Presbiteriana Mackenzie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952500" y="1143000"/>
            <a:ext cx="614079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b="0" i="0" lang="en-US" sz="1800" u="none" cap="none" strike="noStrike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Faculdade de Computação e Informática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952500" y="2717006"/>
            <a:ext cx="15304770" cy="2890689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764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7200"/>
              <a:buFont typeface="Arial"/>
              <a:buNone/>
            </a:pPr>
            <a:r>
              <a:rPr b="1" lang="en-US" sz="7200">
                <a:solidFill>
                  <a:srgbClr val="F5F4F0"/>
                </a:solidFill>
              </a:rPr>
              <a:t>Análise da Resiliência da Rede Metroferroviária de São Paulo e Região Metropolitana </a:t>
            </a:r>
            <a:endParaRPr sz="7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952500" y="6379220"/>
            <a:ext cx="5257800" cy="13335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172200" y="6255395"/>
            <a:ext cx="381000" cy="381000"/>
          </a:xfrm>
          <a:prstGeom prst="ellipse">
            <a:avLst/>
          </a:prstGeom>
          <a:solidFill>
            <a:srgbClr val="15171C"/>
          </a:solidFill>
          <a:ln cap="flat" cmpd="sng" w="76200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6515100" y="6379220"/>
            <a:ext cx="5257800" cy="133350"/>
          </a:xfrm>
          <a:prstGeom prst="rect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1734800" y="6255395"/>
            <a:ext cx="381000" cy="381000"/>
          </a:xfrm>
          <a:prstGeom prst="ellipse">
            <a:avLst/>
          </a:prstGeom>
          <a:solidFill>
            <a:srgbClr val="15171C"/>
          </a:solidFill>
          <a:ln cap="flat" cmpd="sng" w="76200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2077700" y="6379220"/>
            <a:ext cx="5257800" cy="133350"/>
          </a:xfrm>
          <a:prstGeom prst="rect">
            <a:avLst/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952500" y="7905750"/>
            <a:ext cx="47656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Disciplina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3"/>
          <p:cNvSpPr/>
          <p:nvPr/>
        </p:nvSpPr>
        <p:spPr>
          <a:xfrm>
            <a:off x="952500" y="8324850"/>
            <a:ext cx="4765625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4F0"/>
                </a:solidFill>
                <a:latin typeface="Arial"/>
                <a:ea typeface="Arial"/>
                <a:cs typeface="Arial"/>
                <a:sym typeface="Arial"/>
              </a:rPr>
              <a:t>Teoria dos Grafos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52500" y="8791575"/>
            <a:ext cx="4765625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9CBD1"/>
              </a:buClr>
              <a:buSzPts val="2250"/>
              <a:buFont typeface="Arial"/>
              <a:buNone/>
            </a:pPr>
            <a:r>
              <a:rPr lang="en-US" sz="2250">
                <a:solidFill>
                  <a:srgbClr val="C9CBD1"/>
                </a:solidFill>
                <a:latin typeface="Arial"/>
                <a:ea typeface="Arial"/>
                <a:cs typeface="Arial"/>
                <a:sym typeface="Arial"/>
              </a:rPr>
              <a:t>Turma 6º G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895777" y="7905750"/>
            <a:ext cx="571891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Professor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4895777" y="8248650"/>
            <a:ext cx="6206903" cy="742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5F4F0"/>
                </a:solidFill>
                <a:latin typeface="Arial"/>
                <a:ea typeface="Arial"/>
                <a:cs typeface="Arial"/>
                <a:sym typeface="Arial"/>
              </a:rPr>
              <a:t>Prof. Dr. Ivan Carlos Alcântara de Oliveira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11703100" y="7905750"/>
            <a:ext cx="61956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Integrantes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3"/>
          <p:cNvSpPr/>
          <p:nvPr/>
        </p:nvSpPr>
        <p:spPr>
          <a:xfrm>
            <a:off x="11703100" y="8324850"/>
            <a:ext cx="186925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5F4F0"/>
                </a:solidFill>
                <a:latin typeface="Arial"/>
                <a:ea typeface="Arial"/>
                <a:cs typeface="Arial"/>
                <a:sym typeface="Arial"/>
              </a:rPr>
              <a:t>Lucas Carmo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3"/>
          <p:cNvSpPr/>
          <p:nvPr/>
        </p:nvSpPr>
        <p:spPr>
          <a:xfrm>
            <a:off x="16238041" y="8324850"/>
            <a:ext cx="11736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10439830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3"/>
          <p:cNvSpPr/>
          <p:nvPr/>
        </p:nvSpPr>
        <p:spPr>
          <a:xfrm>
            <a:off x="11703100" y="8763000"/>
            <a:ext cx="4298231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5F4F0"/>
                </a:solidFill>
                <a:latin typeface="Arial"/>
                <a:ea typeface="Arial"/>
                <a:cs typeface="Arial"/>
                <a:sym typeface="Arial"/>
              </a:rPr>
              <a:t>Gian Lucca Campanha Ribeiro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16238041" y="8801100"/>
            <a:ext cx="11736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10438361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11703100" y="9201150"/>
            <a:ext cx="213151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2250"/>
              <a:buFont typeface="Arial"/>
              <a:buNone/>
            </a:pPr>
            <a:r>
              <a:rPr b="1" lang="en-US" sz="2250">
                <a:solidFill>
                  <a:srgbClr val="F5F4F0"/>
                </a:solidFill>
                <a:latin typeface="Arial"/>
                <a:ea typeface="Arial"/>
                <a:cs typeface="Arial"/>
                <a:sym typeface="Arial"/>
              </a:rPr>
              <a:t>Gabriel Medina</a:t>
            </a:r>
            <a:endParaRPr sz="2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16238041" y="9229725"/>
            <a:ext cx="117365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10426931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02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Contextualização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1114425" y="3086100"/>
            <a:ext cx="76200" cy="586740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952500" y="2857500"/>
            <a:ext cx="400050" cy="40005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1F4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733550" y="2819400"/>
            <a:ext cx="7468493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5171C"/>
                </a:solidFill>
              </a:rPr>
              <a:t>A maior malha do Brasil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1733550" y="3356521"/>
            <a:ext cx="7468493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E6169"/>
                </a:solidFill>
                <a:latin typeface="Arial"/>
                <a:ea typeface="Arial"/>
                <a:cs typeface="Arial"/>
                <a:sym typeface="Arial"/>
              </a:rPr>
              <a:t>Metrô e CPTM na Região Metropolitana de São Paulo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952500" y="5686574"/>
            <a:ext cx="400050" cy="40005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1F4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1733550" y="5648474"/>
            <a:ext cx="6141780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Milhões de pessoas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733550" y="6185595"/>
            <a:ext cx="6141780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2432"/>
              </a:lnSpc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E6169"/>
                </a:solidFill>
              </a:rPr>
              <a:t>D</a:t>
            </a:r>
            <a:r>
              <a:rPr lang="en-US" sz="2400">
                <a:solidFill>
                  <a:srgbClr val="5E6169"/>
                </a:solidFill>
                <a:latin typeface="Arial"/>
                <a:ea typeface="Arial"/>
                <a:cs typeface="Arial"/>
                <a:sym typeface="Arial"/>
              </a:rPr>
              <a:t>ependem da rede no deslocamento diário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952500" y="8515499"/>
            <a:ext cx="400050" cy="400050"/>
          </a:xfrm>
          <a:prstGeom prst="ellipse">
            <a:avLst/>
          </a:prstGeom>
          <a:solidFill>
            <a:srgbClr val="D93A30"/>
          </a:solidFill>
          <a:ln cap="flat" cmpd="sng" w="76200">
            <a:solidFill>
              <a:srgbClr val="D9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733550" y="8477399"/>
            <a:ext cx="6073839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Falhas pontuais se propagam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1733550" y="9014520"/>
            <a:ext cx="6073839" cy="4342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5E6169"/>
                </a:solidFill>
              </a:rPr>
              <a:t>Falhas podem alterar caminhos disponíveis</a:t>
            </a:r>
            <a:endParaRPr sz="2400">
              <a:solidFill>
                <a:srgbClr val="5E6169"/>
              </a:solidFill>
            </a:endParaRPr>
          </a:p>
          <a:p>
            <a:pPr indent="0" lvl="0" marL="0" marR="0" rtl="0" algn="l">
              <a:lnSpc>
                <a:spcPct val="112432"/>
              </a:lnSpc>
              <a:spcBef>
                <a:spcPts val="1200"/>
              </a:spcBef>
              <a:spcAft>
                <a:spcPts val="0"/>
              </a:spcAft>
              <a:buClr>
                <a:srgbClr val="5E6169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5E6169"/>
              </a:solidFill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9601200" y="2705100"/>
            <a:ext cx="7734300" cy="6819900"/>
          </a:xfrm>
          <a:prstGeom prst="roundRect">
            <a:avLst>
              <a:gd fmla="val 3352" name="adj"/>
            </a:avLst>
          </a:prstGeom>
          <a:solidFill>
            <a:srgbClr val="ECEAE4"/>
          </a:solidFill>
          <a:ln cap="flat" cmpd="sng" w="19050">
            <a:solidFill>
              <a:srgbClr val="DCDA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11101983" y="5891213"/>
            <a:ext cx="4732734" cy="447675"/>
          </a:xfrm>
          <a:prstGeom prst="roundRect">
            <a:avLst>
              <a:gd fmla="val 17021" name="adj"/>
            </a:avLst>
          </a:prstGeom>
          <a:solidFill>
            <a:srgbClr val="F5F4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11273433" y="5986463"/>
            <a:ext cx="453181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mapa da rede Metrô + CPTM (RMSP)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verno de São Paulo cria comitê para atualizar mapa do transporte  metropolitano - Metrô CPTM" id="55" name="Google Shape;5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472277" y="2737545"/>
            <a:ext cx="8134127" cy="6819900"/>
          </a:xfrm>
          <a:prstGeom prst="rect">
            <a:avLst/>
          </a:prstGeom>
          <a:noFill/>
          <a:ln cap="sq" cmpd="thickThin" w="8890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03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Objetivo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952500" y="3531989"/>
            <a:ext cx="15227300" cy="13867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2609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4500"/>
              <a:buFont typeface="Arial"/>
              <a:buNone/>
            </a:pPr>
            <a:r>
              <a:rPr lang="en-US" sz="45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Analisar a resiliência da rede metroferroviária de São Paulo a partir de um modelo em grafo.</a:t>
            </a:r>
            <a:endParaRPr sz="4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952500" y="5795070"/>
            <a:ext cx="723900" cy="7239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1154311" y="5980807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952500" y="6785670"/>
            <a:ext cx="5559951" cy="4723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Modelar a rede como grafo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616601" y="5795070"/>
            <a:ext cx="723900" cy="723900"/>
          </a:xfrm>
          <a:prstGeom prst="ellipse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6818412" y="5980807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6616601" y="6785670"/>
            <a:ext cx="5206289" cy="90666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5171C"/>
                </a:solidFill>
              </a:rPr>
              <a:t>Analisar a conectividade e a resiliência estrutural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12280850" y="5795070"/>
            <a:ext cx="723900" cy="723900"/>
          </a:xfrm>
          <a:prstGeom prst="ellipse">
            <a:avLst/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12482661" y="5980807"/>
            <a:ext cx="39632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15171C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2280850" y="6785670"/>
            <a:ext cx="5206289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6047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850"/>
              <a:buFont typeface="Arial"/>
              <a:buNone/>
            </a:pPr>
            <a:r>
              <a:rPr b="1" lang="en-US" sz="2850">
                <a:solidFill>
                  <a:srgbClr val="15171C"/>
                </a:solidFill>
              </a:rPr>
              <a:t>Avaliar caminhos mínimos e simular falhas em estações </a:t>
            </a:r>
            <a:endParaRPr sz="2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04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Motivação e Justificativa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952500" y="4289673"/>
            <a:ext cx="1143000" cy="114300"/>
          </a:xfrm>
          <a:custGeom>
            <a:rect b="b" l="l" r="r" t="t"/>
            <a:pathLst>
              <a:path extrusionOk="0" h="114300" w="1143000">
                <a:moveTo>
                  <a:pt x="57150" y="0"/>
                </a:moveTo>
                <a:lnTo>
                  <a:pt x="1143000" y="0"/>
                </a:lnTo>
                <a:lnTo>
                  <a:pt x="1143000" y="114300"/>
                </a:lnTo>
                <a:lnTo>
                  <a:pt x="57150" y="114300"/>
                </a:lnTo>
                <a:cubicBezTo>
                  <a:pt x="25587" y="114300"/>
                  <a:pt x="0" y="88713"/>
                  <a:pt x="0" y="57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2057400" y="4156323"/>
            <a:ext cx="381000" cy="38100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1F4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952500" y="4842123"/>
            <a:ext cx="5336485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Benefício social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52500" y="5649813"/>
            <a:ext cx="4996891" cy="91231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Mapear pontos sensíveis a falhas e </a:t>
            </a:r>
            <a:r>
              <a:rPr lang="en-US" sz="2550">
                <a:solidFill>
                  <a:srgbClr val="4A4D55"/>
                </a:solidFill>
              </a:rPr>
              <a:t>identificar caminhos alternativos 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413450" y="4156323"/>
            <a:ext cx="19050" cy="3307705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7042100" y="4289673"/>
            <a:ext cx="1143000" cy="114300"/>
          </a:xfrm>
          <a:custGeom>
            <a:rect b="b" l="l" r="r" t="t"/>
            <a:pathLst>
              <a:path extrusionOk="0" h="114300" w="1143000">
                <a:moveTo>
                  <a:pt x="57150" y="0"/>
                </a:moveTo>
                <a:lnTo>
                  <a:pt x="1143000" y="0"/>
                </a:lnTo>
                <a:lnTo>
                  <a:pt x="1143000" y="114300"/>
                </a:lnTo>
                <a:lnTo>
                  <a:pt x="57150" y="114300"/>
                </a:lnTo>
                <a:cubicBezTo>
                  <a:pt x="25587" y="114300"/>
                  <a:pt x="0" y="88713"/>
                  <a:pt x="0" y="57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8147000" y="4156323"/>
            <a:ext cx="381000" cy="38100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D93A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042100" y="4842123"/>
            <a:ext cx="4349381" cy="10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Abordagem adequada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042100" y="6152704"/>
            <a:ext cx="4349381" cy="13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Grafos representam naturalmente redes físicas de estações e conexões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11874401" y="4156323"/>
            <a:ext cx="19050" cy="3307705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12503051" y="4289673"/>
            <a:ext cx="1143000" cy="114300"/>
          </a:xfrm>
          <a:custGeom>
            <a:rect b="b" l="l" r="r" t="t"/>
            <a:pathLst>
              <a:path extrusionOk="0" h="114300" w="1143000">
                <a:moveTo>
                  <a:pt x="57150" y="0"/>
                </a:moveTo>
                <a:lnTo>
                  <a:pt x="1143000" y="0"/>
                </a:lnTo>
                <a:lnTo>
                  <a:pt x="1143000" y="114300"/>
                </a:lnTo>
                <a:lnTo>
                  <a:pt x="57150" y="114300"/>
                </a:lnTo>
                <a:cubicBezTo>
                  <a:pt x="25587" y="114300"/>
                  <a:pt x="0" y="88713"/>
                  <a:pt x="0" y="57150"/>
                </a:cubicBezTo>
                <a:lnTo>
                  <a:pt x="0" y="57150"/>
                </a:lnTo>
                <a:cubicBezTo>
                  <a:pt x="0" y="25587"/>
                  <a:pt x="25587" y="0"/>
                  <a:pt x="57150" y="0"/>
                </a:cubicBezTo>
                <a:close/>
              </a:path>
            </a:pathLst>
          </a:cu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13607951" y="4156323"/>
            <a:ext cx="381000" cy="381000"/>
          </a:xfrm>
          <a:prstGeom prst="ellipse">
            <a:avLst/>
          </a:prstGeom>
          <a:solidFill>
            <a:srgbClr val="FFFFFF"/>
          </a:solidFill>
          <a:ln cap="flat" cmpd="sng" w="76200">
            <a:solidFill>
              <a:srgbClr val="F07A5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12503051" y="4842123"/>
            <a:ext cx="5315530" cy="54099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Relevância acadêmica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12503051" y="5649813"/>
            <a:ext cx="4977269" cy="13494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7692"/>
              </a:lnSpc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Tema presente em Ciência da Computação e Engenharia de Transportes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7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7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7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05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7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Objetivos de Desenvolvimento Sustentável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7"/>
          <p:cNvSpPr/>
          <p:nvPr/>
        </p:nvSpPr>
        <p:spPr>
          <a:xfrm>
            <a:off x="654496" y="2628900"/>
            <a:ext cx="8001000" cy="6896100"/>
          </a:xfrm>
          <a:prstGeom prst="roundRect">
            <a:avLst>
              <a:gd fmla="val 3867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7"/>
          <p:cNvSpPr/>
          <p:nvPr/>
        </p:nvSpPr>
        <p:spPr>
          <a:xfrm>
            <a:off x="1562100" y="3162300"/>
            <a:ext cx="6363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ODS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6728668" y="2844800"/>
            <a:ext cx="2536428" cy="1879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4956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250"/>
              <a:buFont typeface="Calibri"/>
              <a:buNone/>
            </a:pPr>
            <a:r>
              <a:t/>
            </a:r>
            <a:endParaRPr b="1" sz="825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495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990"/>
              <a:buFont typeface="Arial"/>
              <a:buNone/>
            </a:pPr>
            <a:r>
              <a:rPr b="1" lang="en-US" sz="1199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1" sz="8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1562100" y="6972598"/>
            <a:ext cx="6985254" cy="10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Cidades e Comunidades Sustentáveis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562100" y="8168878"/>
            <a:ext cx="6985254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E3E9F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E3E9F5"/>
                </a:solidFill>
                <a:latin typeface="Arial"/>
                <a:ea typeface="Arial"/>
                <a:cs typeface="Arial"/>
                <a:sym typeface="Arial"/>
              </a:rPr>
              <a:t>Transporte público mais seguro, acessível e resiliente para a população urbana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9334500" y="2628900"/>
            <a:ext cx="8001000" cy="6896100"/>
          </a:xfrm>
          <a:prstGeom prst="roundRect">
            <a:avLst>
              <a:gd fmla="val 3867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9944100" y="3162300"/>
            <a:ext cx="636389" cy="39052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Courier New"/>
              <a:buNone/>
            </a:pPr>
            <a:r>
              <a:rPr lang="en-US" sz="21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ODS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15742593" y="3162300"/>
            <a:ext cx="1059507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69565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0"/>
              <a:buFont typeface="Arial"/>
              <a:buNone/>
            </a:pPr>
            <a:r>
              <a:rPr b="1" lang="en-US" sz="15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15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7"/>
          <p:cNvSpPr/>
          <p:nvPr/>
        </p:nvSpPr>
        <p:spPr>
          <a:xfrm>
            <a:off x="9944100" y="6972598"/>
            <a:ext cx="6985254" cy="104388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Arial"/>
              <a:buNone/>
            </a:pPr>
            <a:r>
              <a:rPr b="1" lang="en-US" sz="3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Indústria, Inovação e Infraestrutura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9944100" y="8168878"/>
            <a:ext cx="6985254" cy="860822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6757"/>
              </a:lnSpc>
              <a:spcBef>
                <a:spcPts val="0"/>
              </a:spcBef>
              <a:spcAft>
                <a:spcPts val="0"/>
              </a:spcAft>
              <a:buClr>
                <a:srgbClr val="FBE7E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FBE7E5"/>
                </a:solidFill>
                <a:latin typeface="Arial"/>
                <a:ea typeface="Arial"/>
                <a:cs typeface="Arial"/>
                <a:sym typeface="Arial"/>
              </a:rPr>
              <a:t>Infraestrutura confiável e de qualidade, apoiada por análise computacional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8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8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8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8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06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8"/>
          <p:cNvSpPr/>
          <p:nvPr/>
        </p:nvSpPr>
        <p:spPr>
          <a:xfrm>
            <a:off x="1009650" y="1279699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Modelagem da Rede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8"/>
          <p:cNvSpPr/>
          <p:nvPr/>
        </p:nvSpPr>
        <p:spPr>
          <a:xfrm>
            <a:off x="952500" y="2628900"/>
            <a:ext cx="8001000" cy="6436500"/>
          </a:xfrm>
          <a:prstGeom prst="roundRect">
            <a:avLst>
              <a:gd fmla="val 3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8"/>
          <p:cNvSpPr/>
          <p:nvPr/>
        </p:nvSpPr>
        <p:spPr>
          <a:xfrm>
            <a:off x="1600200" y="3279428"/>
            <a:ext cx="609600" cy="609600"/>
          </a:xfrm>
          <a:prstGeom prst="ellipse">
            <a:avLst/>
          </a:prstGeom>
          <a:solidFill>
            <a:srgbClr val="FFFFFF"/>
          </a:solidFill>
          <a:ln cap="flat" cmpd="sng" w="114300">
            <a:solidFill>
              <a:srgbClr val="1F4F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8"/>
          <p:cNvSpPr/>
          <p:nvPr/>
        </p:nvSpPr>
        <p:spPr>
          <a:xfrm>
            <a:off x="2590800" y="3124200"/>
            <a:ext cx="2489200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Vértices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2658344" y="3615625"/>
            <a:ext cx="57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15171C"/>
                </a:solidFill>
              </a:rPr>
              <a:t>Estação + Linha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5E6169"/>
              </a:solidFill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1524000" y="4463355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8"/>
          <p:cNvSpPr/>
          <p:nvPr/>
        </p:nvSpPr>
        <p:spPr>
          <a:xfrm>
            <a:off x="1421125" y="5511118"/>
            <a:ext cx="6858000" cy="19200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1421125" y="4968193"/>
            <a:ext cx="7063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15171C"/>
                </a:solidFill>
              </a:rPr>
              <a:t>Ex: “Luz | Linha 1-Azul”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8"/>
          <p:cNvSpPr/>
          <p:nvPr/>
        </p:nvSpPr>
        <p:spPr>
          <a:xfrm>
            <a:off x="9334500" y="2628900"/>
            <a:ext cx="8001000" cy="6436500"/>
          </a:xfrm>
          <a:prstGeom prst="roundRect">
            <a:avLst>
              <a:gd fmla="val 3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9906000" y="3650903"/>
            <a:ext cx="228600" cy="228600"/>
          </a:xfrm>
          <a:prstGeom prst="ellipse">
            <a:avLst/>
          </a:prstGeom>
          <a:noFill/>
          <a:ln cap="flat" cmpd="sng" w="57150">
            <a:solidFill>
              <a:srgbClr val="151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10160000" y="3717578"/>
            <a:ext cx="99120" cy="95250"/>
          </a:xfrm>
          <a:prstGeom prst="rect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10284520" y="3650903"/>
            <a:ext cx="228600" cy="228600"/>
          </a:xfrm>
          <a:prstGeom prst="ellipse">
            <a:avLst/>
          </a:prstGeom>
          <a:noFill/>
          <a:ln cap="flat" cmpd="sng" w="57150">
            <a:solidFill>
              <a:srgbClr val="15171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10767120" y="3124200"/>
            <a:ext cx="6596569" cy="5581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Arestas</a:t>
            </a:r>
            <a:endParaRPr sz="3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0767120" y="3682305"/>
            <a:ext cx="6176787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5E6169"/>
                </a:solidFill>
              </a:rPr>
              <a:t>Estações consecutivas e integrações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9906000" y="4825305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9803100" y="5549205"/>
            <a:ext cx="6858000" cy="19200"/>
          </a:xfrm>
          <a:prstGeom prst="rect">
            <a:avLst/>
          </a:prstGeom>
          <a:solidFill>
            <a:srgbClr val="ECEAE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9803100" y="5034818"/>
            <a:ext cx="7063800" cy="4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550"/>
              <a:buFont typeface="Arial"/>
              <a:buNone/>
            </a:pPr>
            <a:r>
              <a:rPr lang="en-US" sz="2550">
                <a:solidFill>
                  <a:srgbClr val="15171C"/>
                </a:solidFill>
              </a:rPr>
              <a:t>Peso = Distância aproximada em Km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1322850" y="7152425"/>
            <a:ext cx="1164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1F4FA8"/>
                </a:solidFill>
                <a:latin typeface="Courier New"/>
                <a:ea typeface="Courier New"/>
                <a:cs typeface="Courier New"/>
                <a:sym typeface="Courier New"/>
              </a:rPr>
              <a:t>203</a:t>
            </a:r>
            <a:endParaRPr sz="3900">
              <a:solidFill>
                <a:srgbClr val="1F4FA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9627400" y="7152425"/>
            <a:ext cx="11643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900"/>
              <a:buFont typeface="Arial"/>
              <a:buNone/>
            </a:pPr>
            <a:r>
              <a:rPr b="1" lang="en-US" sz="3900">
                <a:solidFill>
                  <a:srgbClr val="D93A30"/>
                </a:solidFill>
                <a:latin typeface="Courier New"/>
                <a:ea typeface="Courier New"/>
                <a:cs typeface="Courier New"/>
                <a:sym typeface="Courier New"/>
              </a:rPr>
              <a:t>230</a:t>
            </a:r>
            <a:endParaRPr sz="3900">
              <a:solidFill>
                <a:srgbClr val="D93A3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9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9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9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9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07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9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Tipo do Grafo (</a:t>
            </a:r>
            <a:r>
              <a:rPr b="1" lang="en-US" sz="6000">
                <a:solidFill>
                  <a:srgbClr val="15171C"/>
                </a:solidFill>
              </a:rPr>
              <a:t>Conceitualmente</a:t>
            </a: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9"/>
          <p:cNvSpPr/>
          <p:nvPr/>
        </p:nvSpPr>
        <p:spPr>
          <a:xfrm>
            <a:off x="952500" y="5312122"/>
            <a:ext cx="7063680" cy="19050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/>
          <p:nvPr/>
        </p:nvSpPr>
        <p:spPr>
          <a:xfrm>
            <a:off x="952500" y="3668167"/>
            <a:ext cx="77700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Orientação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/>
          <p:nvPr/>
        </p:nvSpPr>
        <p:spPr>
          <a:xfrm>
            <a:off x="952500" y="4068217"/>
            <a:ext cx="7770049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7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Não orientado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952500" y="4645372"/>
            <a:ext cx="77700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Conexões valem nos dois sentidos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9"/>
          <p:cNvSpPr/>
          <p:nvPr/>
        </p:nvSpPr>
        <p:spPr>
          <a:xfrm>
            <a:off x="952500" y="7279928"/>
            <a:ext cx="7063680" cy="19050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952500" y="5635972"/>
            <a:ext cx="77700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Ponderação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952500" y="6036022"/>
            <a:ext cx="7770049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7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Peso nas arestas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952500" y="6613178"/>
            <a:ext cx="7770049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Peso da aresta = </a:t>
            </a:r>
            <a:r>
              <a:rPr lang="en-US" sz="2400">
                <a:solidFill>
                  <a:srgbClr val="4A4D55"/>
                </a:solidFill>
              </a:rPr>
              <a:t>distância aproximada entre estações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952500" y="7603778"/>
            <a:ext cx="7770049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Classificação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952500" y="8003828"/>
            <a:ext cx="7770049" cy="52000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37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450"/>
              <a:buFont typeface="Arial"/>
              <a:buNone/>
            </a:pPr>
            <a:r>
              <a:rPr b="1" lang="en-US" sz="3450">
                <a:solidFill>
                  <a:srgbClr val="15171C"/>
                </a:solidFill>
              </a:rPr>
              <a:t>Tipo 2</a:t>
            </a:r>
            <a:endParaRPr sz="3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8701980" y="2628900"/>
            <a:ext cx="8633520" cy="6896100"/>
          </a:xfrm>
          <a:prstGeom prst="roundRect">
            <a:avLst>
              <a:gd fmla="val 38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9" name="Google Shape;169;p9" title="grafo_esboco_graphonline.png"/>
          <p:cNvPicPr preferRelativeResize="0"/>
          <p:nvPr/>
        </p:nvPicPr>
        <p:blipFill rotWithShape="1">
          <a:blip r:embed="rId3">
            <a:alphaModFix/>
          </a:blip>
          <a:srcRect b="11789" l="6025" r="6025" t="19430"/>
          <a:stretch/>
        </p:blipFill>
        <p:spPr>
          <a:xfrm>
            <a:off x="9289225" y="4286250"/>
            <a:ext cx="7770051" cy="402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0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08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6000">
                <a:solidFill>
                  <a:schemeClr val="dk1"/>
                </a:solidFill>
              </a:rPr>
              <a:t>Visualização do Grafo </a:t>
            </a:r>
            <a:endParaRPr b="1" sz="6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1304"/>
              </a:lnSpc>
              <a:spcBef>
                <a:spcPts val="120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t/>
            </a:r>
            <a:endParaRPr b="1" sz="6000">
              <a:solidFill>
                <a:srgbClr val="15171C"/>
              </a:solidFill>
            </a:endParaRPr>
          </a:p>
        </p:txBody>
      </p:sp>
      <p:sp>
        <p:nvSpPr>
          <p:cNvPr descr="preencoded.png" id="180" name="Google Shape;180;p10"/>
          <p:cNvSpPr/>
          <p:nvPr/>
        </p:nvSpPr>
        <p:spPr>
          <a:xfrm>
            <a:off x="1050125" y="2466975"/>
            <a:ext cx="7908300" cy="74343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10"/>
          <p:cNvSpPr/>
          <p:nvPr/>
        </p:nvSpPr>
        <p:spPr>
          <a:xfrm>
            <a:off x="9705975" y="3278312"/>
            <a:ext cx="1337400" cy="13350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11461251" y="3168775"/>
            <a:ext cx="621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5171C"/>
                </a:solidFill>
              </a:rPr>
              <a:t>Exibição do grafo em formato de adjacências</a:t>
            </a:r>
            <a:endParaRPr sz="2400">
              <a:solidFill>
                <a:srgbClr val="15171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15171C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15171C"/>
              </a:solidFill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9705975" y="3859337"/>
            <a:ext cx="1337400" cy="13350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0"/>
          <p:cNvSpPr/>
          <p:nvPr/>
        </p:nvSpPr>
        <p:spPr>
          <a:xfrm>
            <a:off x="11461252" y="3749800"/>
            <a:ext cx="62172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5171C"/>
                </a:solidFill>
              </a:rPr>
              <a:t>Cada linha mostra um vértice e seus vizinhos</a:t>
            </a:r>
            <a:endParaRPr sz="2400">
              <a:solidFill>
                <a:srgbClr val="15171C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15171C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5171C"/>
              </a:solidFill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9705975" y="4440362"/>
            <a:ext cx="1337400" cy="13350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0"/>
          <p:cNvSpPr/>
          <p:nvPr/>
        </p:nvSpPr>
        <p:spPr>
          <a:xfrm>
            <a:off x="11461254" y="4330825"/>
            <a:ext cx="6112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>
                <a:solidFill>
                  <a:srgbClr val="15171C"/>
                </a:solidFill>
              </a:rPr>
              <a:t>Os pesos indicam as distâncias aproximadas entre estações </a:t>
            </a:r>
            <a:endParaRPr sz="2400">
              <a:solidFill>
                <a:srgbClr val="15171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2400">
              <a:solidFill>
                <a:srgbClr val="15171C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rgbClr val="15171C"/>
              </a:solidFill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9705975" y="8238310"/>
            <a:ext cx="3429000" cy="19200"/>
          </a:xfrm>
          <a:prstGeom prst="rect">
            <a:avLst/>
          </a:prstGeom>
          <a:solidFill>
            <a:srgbClr val="DCDAD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9705975" y="8638360"/>
            <a:ext cx="37719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15171C"/>
                </a:solidFill>
              </a:rPr>
              <a:t>Opção “h” do menu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705975" y="9028878"/>
            <a:ext cx="3531900" cy="8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18125"/>
              </a:lnSpc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4A4D55"/>
                </a:solidFill>
              </a:rPr>
              <a:t>Mostrar grafo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0" name="Google Shape;19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0150" y="2635375"/>
            <a:ext cx="7610275" cy="7051550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0"/>
          <p:cNvSpPr/>
          <p:nvPr/>
        </p:nvSpPr>
        <p:spPr>
          <a:xfrm>
            <a:off x="9705975" y="5335850"/>
            <a:ext cx="1337400" cy="13350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0"/>
          <p:cNvSpPr/>
          <p:nvPr/>
        </p:nvSpPr>
        <p:spPr>
          <a:xfrm>
            <a:off x="11461254" y="5226313"/>
            <a:ext cx="61125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2400">
                <a:solidFill>
                  <a:srgbClr val="15171C"/>
                </a:solidFill>
              </a:rPr>
              <a:t>Integrações entre linhas aparecem com peso 0</a:t>
            </a:r>
            <a:endParaRPr sz="2400">
              <a:solidFill>
                <a:srgbClr val="15171C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F4F0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1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09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Problema Central e Métodos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952500" y="4450110"/>
            <a:ext cx="7302818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Problema central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1"/>
          <p:cNvSpPr/>
          <p:nvPr/>
        </p:nvSpPr>
        <p:spPr>
          <a:xfrm>
            <a:off x="952500" y="5079355"/>
            <a:ext cx="6838093" cy="117723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9667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607"/>
              <a:buFont typeface="Arial"/>
              <a:buNone/>
            </a:pPr>
            <a:r>
              <a:rPr b="1" lang="en-US" sz="3608">
                <a:solidFill>
                  <a:srgbClr val="15171C"/>
                </a:solidFill>
              </a:rPr>
              <a:t>Analisar conectividade e falhas </a:t>
            </a:r>
            <a:endParaRPr sz="3608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952500" y="6765578"/>
            <a:ext cx="190500" cy="190500"/>
          </a:xfrm>
          <a:prstGeom prst="ellipse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1371600" y="6656040"/>
            <a:ext cx="4211464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Identificar pontos críticos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952500" y="7403753"/>
            <a:ext cx="190500" cy="190500"/>
          </a:xfrm>
          <a:prstGeom prst="ellipse">
            <a:avLst/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1"/>
          <p:cNvSpPr/>
          <p:nvPr/>
        </p:nvSpPr>
        <p:spPr>
          <a:xfrm>
            <a:off x="1371600" y="7294215"/>
            <a:ext cx="5312420" cy="44767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700"/>
              <a:buFont typeface="Arial"/>
              <a:buNone/>
            </a:pPr>
            <a:r>
              <a:rPr lang="en-US" sz="27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Encontrar caminhos alternativos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8353425" y="2628900"/>
            <a:ext cx="4357688" cy="33147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8772525" y="3009900"/>
            <a:ext cx="38714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Algoritmos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1"/>
          <p:cNvSpPr/>
          <p:nvPr/>
        </p:nvSpPr>
        <p:spPr>
          <a:xfrm>
            <a:off x="8772525" y="3899743"/>
            <a:ext cx="3871436" cy="499021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Dijkstra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8772525" y="4360664"/>
            <a:ext cx="387143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caminhos mínimos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1"/>
          <p:cNvSpPr/>
          <p:nvPr/>
        </p:nvSpPr>
        <p:spPr>
          <a:xfrm>
            <a:off x="8772525" y="4817864"/>
            <a:ext cx="3625072" cy="782836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256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2550"/>
              <a:buFont typeface="Arial"/>
              <a:buNone/>
            </a:pPr>
            <a:r>
              <a:rPr b="1" lang="en-US" sz="2550">
                <a:solidFill>
                  <a:srgbClr val="15171C"/>
                </a:solidFill>
              </a:rPr>
              <a:t>Componentes conexas</a:t>
            </a:r>
            <a:endParaRPr sz="2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1"/>
          <p:cNvSpPr/>
          <p:nvPr/>
        </p:nvSpPr>
        <p:spPr>
          <a:xfrm>
            <a:off x="12977813" y="2628900"/>
            <a:ext cx="4357688" cy="33147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1"/>
          <p:cNvSpPr/>
          <p:nvPr/>
        </p:nvSpPr>
        <p:spPr>
          <a:xfrm>
            <a:off x="13396913" y="3009900"/>
            <a:ext cx="38714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Escala do Modelo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/>
          <p:nvPr/>
        </p:nvSpPr>
        <p:spPr>
          <a:xfrm>
            <a:off x="13396975" y="4343400"/>
            <a:ext cx="1483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275"/>
              </a:lnSpc>
              <a:spcBef>
                <a:spcPts val="0"/>
              </a:spcBef>
              <a:spcAft>
                <a:spcPts val="0"/>
              </a:spcAft>
              <a:buClr>
                <a:srgbClr val="1F4FA8"/>
              </a:buClr>
              <a:buSzPts val="6600"/>
              <a:buFont typeface="Arial"/>
              <a:buNone/>
            </a:pPr>
            <a:r>
              <a:rPr b="1" lang="en-US" sz="6600">
                <a:solidFill>
                  <a:srgbClr val="1F4FA8"/>
                </a:solidFill>
              </a:rPr>
              <a:t>203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13396913" y="5238750"/>
            <a:ext cx="1012329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vértices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15408566" y="4343400"/>
            <a:ext cx="1483200" cy="8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275"/>
              </a:lnSpc>
              <a:spcBef>
                <a:spcPts val="0"/>
              </a:spcBef>
              <a:spcAft>
                <a:spcPts val="0"/>
              </a:spcAft>
              <a:buClr>
                <a:srgbClr val="D93A30"/>
              </a:buClr>
              <a:buSzPts val="6600"/>
              <a:buFont typeface="Arial"/>
              <a:buNone/>
            </a:pPr>
            <a:r>
              <a:rPr b="1" lang="en-US" sz="6600">
                <a:solidFill>
                  <a:srgbClr val="D93A30"/>
                </a:solidFill>
              </a:rPr>
              <a:t>230</a:t>
            </a:r>
            <a:endParaRPr sz="6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15408566" y="5227275"/>
            <a:ext cx="1483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4D55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4A4D55"/>
                </a:solidFill>
                <a:latin typeface="Arial"/>
                <a:ea typeface="Arial"/>
                <a:cs typeface="Arial"/>
                <a:sym typeface="Arial"/>
              </a:rPr>
              <a:t>arestas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8353425" y="6210300"/>
            <a:ext cx="4357688" cy="33147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1"/>
          <p:cNvSpPr/>
          <p:nvPr/>
        </p:nvSpPr>
        <p:spPr>
          <a:xfrm>
            <a:off x="8772525" y="6591300"/>
            <a:ext cx="38714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Tecnologia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772525" y="8610600"/>
            <a:ext cx="3871436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86154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4200"/>
              <a:buFont typeface="Arial"/>
              <a:buNone/>
            </a:pPr>
            <a:r>
              <a:rPr b="1" lang="en-US" sz="42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 sz="4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12977813" y="6210300"/>
            <a:ext cx="4357688" cy="3314700"/>
          </a:xfrm>
          <a:prstGeom prst="roundRect">
            <a:avLst>
              <a:gd fmla="val 689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1"/>
          <p:cNvSpPr/>
          <p:nvPr/>
        </p:nvSpPr>
        <p:spPr>
          <a:xfrm>
            <a:off x="13396913" y="6591300"/>
            <a:ext cx="387143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E6169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5E6169"/>
                </a:solidFill>
                <a:latin typeface="Courier New"/>
                <a:ea typeface="Courier New"/>
                <a:cs typeface="Courier New"/>
                <a:sym typeface="Courier New"/>
              </a:rPr>
              <a:t>Visualização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13396913" y="8646847"/>
            <a:ext cx="3871500" cy="4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6800"/>
              </a:lnSpc>
              <a:spcBef>
                <a:spcPts val="0"/>
              </a:spcBef>
              <a:spcAft>
                <a:spcPts val="0"/>
              </a:spcAft>
              <a:buClr>
                <a:srgbClr val="15171C"/>
              </a:buClr>
              <a:buSzPts val="3300"/>
              <a:buFont typeface="Arial"/>
              <a:buNone/>
            </a:pPr>
            <a:r>
              <a:rPr b="1" lang="en-US" sz="3300">
                <a:solidFill>
                  <a:srgbClr val="15171C"/>
                </a:solidFill>
                <a:latin typeface="Arial"/>
                <a:ea typeface="Arial"/>
                <a:cs typeface="Arial"/>
                <a:sym typeface="Arial"/>
              </a:rPr>
              <a:t>Graph Online</a:t>
            </a:r>
            <a:endParaRPr sz="3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"/>
          <p:cNvSpPr/>
          <p:nvPr/>
        </p:nvSpPr>
        <p:spPr>
          <a:xfrm>
            <a:off x="9525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2"/>
          <p:cNvSpPr/>
          <p:nvPr/>
        </p:nvSpPr>
        <p:spPr>
          <a:xfrm>
            <a:off x="142875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2"/>
          <p:cNvSpPr/>
          <p:nvPr/>
        </p:nvSpPr>
        <p:spPr>
          <a:xfrm>
            <a:off x="1905000" y="866775"/>
            <a:ext cx="419100" cy="9525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/>
          <p:nvPr/>
        </p:nvSpPr>
        <p:spPr>
          <a:xfrm>
            <a:off x="2552700" y="762000"/>
            <a:ext cx="116443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10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2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5F4F0"/>
                </a:solidFill>
              </a:rPr>
              <a:t>Execução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2"/>
          <p:cNvSpPr/>
          <p:nvPr/>
        </p:nvSpPr>
        <p:spPr>
          <a:xfrm>
            <a:off x="952500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2"/>
          <p:cNvSpPr/>
          <p:nvPr/>
        </p:nvSpPr>
        <p:spPr>
          <a:xfrm>
            <a:off x="1371600" y="3209925"/>
            <a:ext cx="5041850" cy="13335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2"/>
          <p:cNvSpPr/>
          <p:nvPr/>
        </p:nvSpPr>
        <p:spPr>
          <a:xfrm>
            <a:off x="952500" y="3848100"/>
            <a:ext cx="550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2"/>
          <p:cNvSpPr/>
          <p:nvPr/>
        </p:nvSpPr>
        <p:spPr>
          <a:xfrm>
            <a:off x="382863" y="4267200"/>
            <a:ext cx="55041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Menu Principal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2"/>
          <p:cNvSpPr/>
          <p:nvPr/>
        </p:nvSpPr>
        <p:spPr>
          <a:xfrm>
            <a:off x="6375350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2"/>
          <p:cNvSpPr/>
          <p:nvPr/>
        </p:nvSpPr>
        <p:spPr>
          <a:xfrm>
            <a:off x="6794450" y="3209925"/>
            <a:ext cx="5079950" cy="133350"/>
          </a:xfrm>
          <a:prstGeom prst="rect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2"/>
          <p:cNvSpPr/>
          <p:nvPr/>
        </p:nvSpPr>
        <p:spPr>
          <a:xfrm>
            <a:off x="6413450" y="3848100"/>
            <a:ext cx="550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6013050" y="5767375"/>
            <a:ext cx="5154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Leitura do </a:t>
            </a:r>
            <a:r>
              <a:rPr b="1" lang="en-US" sz="3150">
                <a:solidFill>
                  <a:srgbClr val="F5F4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grafo.txt</a:t>
            </a:r>
            <a:endParaRPr sz="315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11836301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12255401" y="3209925"/>
            <a:ext cx="4660850" cy="133350"/>
          </a:xfrm>
          <a:prstGeom prst="rect">
            <a:avLst/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2"/>
          <p:cNvSpPr/>
          <p:nvPr/>
        </p:nvSpPr>
        <p:spPr>
          <a:xfrm>
            <a:off x="16878151" y="3048000"/>
            <a:ext cx="457200" cy="457200"/>
          </a:xfrm>
          <a:prstGeom prst="ellipse">
            <a:avLst/>
          </a:prstGeom>
          <a:solidFill>
            <a:srgbClr val="F5F4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1874401" y="3848100"/>
            <a:ext cx="550412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1874401" y="4267200"/>
            <a:ext cx="5153863" cy="958155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Resultado Conexidade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t/>
            </a:r>
            <a:endParaRPr b="1" sz="3150">
              <a:solidFill>
                <a:srgbClr val="F5F4F0"/>
              </a:solidFill>
            </a:endParaRPr>
          </a:p>
        </p:txBody>
      </p:sp>
      <p:pic>
        <p:nvPicPr>
          <p:cNvPr id="249" name="Google Shape;249;p12"/>
          <p:cNvPicPr preferRelativeResize="0"/>
          <p:nvPr/>
        </p:nvPicPr>
        <p:blipFill rotWithShape="1">
          <a:blip r:embed="rId3">
            <a:alphaModFix/>
          </a:blip>
          <a:srcRect b="0" l="0" r="9829" t="0"/>
          <a:stretch/>
        </p:blipFill>
        <p:spPr>
          <a:xfrm>
            <a:off x="91225" y="5225350"/>
            <a:ext cx="5866725" cy="3347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1386" y="6898800"/>
            <a:ext cx="6363703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16325" y="5225350"/>
            <a:ext cx="7121724" cy="1246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3"/>
          <p:cNvSpPr/>
          <p:nvPr/>
        </p:nvSpPr>
        <p:spPr>
          <a:xfrm>
            <a:off x="95250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3"/>
          <p:cNvSpPr/>
          <p:nvPr/>
        </p:nvSpPr>
        <p:spPr>
          <a:xfrm>
            <a:off x="142875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/>
          <p:nvPr/>
        </p:nvSpPr>
        <p:spPr>
          <a:xfrm>
            <a:off x="190500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/>
          <p:nvPr/>
        </p:nvSpPr>
        <p:spPr>
          <a:xfrm>
            <a:off x="2552700" y="762000"/>
            <a:ext cx="116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11 /12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/>
          <p:nvPr/>
        </p:nvSpPr>
        <p:spPr>
          <a:xfrm>
            <a:off x="952500" y="1295400"/>
            <a:ext cx="180213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5F4F0"/>
                </a:solidFill>
              </a:rPr>
              <a:t>Testes e Resultados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3"/>
          <p:cNvSpPr/>
          <p:nvPr/>
        </p:nvSpPr>
        <p:spPr>
          <a:xfrm>
            <a:off x="952500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3"/>
          <p:cNvSpPr/>
          <p:nvPr/>
        </p:nvSpPr>
        <p:spPr>
          <a:xfrm>
            <a:off x="1371600" y="3209925"/>
            <a:ext cx="5041800" cy="133500"/>
          </a:xfrm>
          <a:prstGeom prst="rect">
            <a:avLst/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3"/>
          <p:cNvSpPr/>
          <p:nvPr/>
        </p:nvSpPr>
        <p:spPr>
          <a:xfrm>
            <a:off x="952500" y="3848100"/>
            <a:ext cx="55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01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3"/>
          <p:cNvSpPr/>
          <p:nvPr/>
        </p:nvSpPr>
        <p:spPr>
          <a:xfrm>
            <a:off x="673900" y="4267200"/>
            <a:ext cx="3462300" cy="4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Dijkstra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3"/>
          <p:cNvSpPr/>
          <p:nvPr/>
        </p:nvSpPr>
        <p:spPr>
          <a:xfrm>
            <a:off x="6375350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3"/>
          <p:cNvSpPr/>
          <p:nvPr/>
        </p:nvSpPr>
        <p:spPr>
          <a:xfrm>
            <a:off x="6794450" y="3209925"/>
            <a:ext cx="5079900" cy="133500"/>
          </a:xfrm>
          <a:prstGeom prst="rect">
            <a:avLst/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"/>
          <p:cNvSpPr/>
          <p:nvPr/>
        </p:nvSpPr>
        <p:spPr>
          <a:xfrm>
            <a:off x="6413450" y="3848100"/>
            <a:ext cx="55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5834800" y="4267200"/>
            <a:ext cx="5154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Simulação de Falhas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3"/>
          <p:cNvSpPr/>
          <p:nvPr/>
        </p:nvSpPr>
        <p:spPr>
          <a:xfrm>
            <a:off x="11836301" y="3048000"/>
            <a:ext cx="457200" cy="457200"/>
          </a:xfrm>
          <a:prstGeom prst="ellipse">
            <a:avLst/>
          </a:prstGeom>
          <a:solidFill>
            <a:srgbClr val="15171C"/>
          </a:solidFill>
          <a:ln cap="flat" cmpd="sng" w="85725">
            <a:solidFill>
              <a:srgbClr val="F5F4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3"/>
          <p:cNvSpPr/>
          <p:nvPr/>
        </p:nvSpPr>
        <p:spPr>
          <a:xfrm>
            <a:off x="12255401" y="3209925"/>
            <a:ext cx="4660800" cy="133500"/>
          </a:xfrm>
          <a:prstGeom prst="rect">
            <a:avLst/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3"/>
          <p:cNvSpPr/>
          <p:nvPr/>
        </p:nvSpPr>
        <p:spPr>
          <a:xfrm>
            <a:off x="16878151" y="3048000"/>
            <a:ext cx="457200" cy="457200"/>
          </a:xfrm>
          <a:prstGeom prst="ellipse">
            <a:avLst/>
          </a:prstGeom>
          <a:solidFill>
            <a:srgbClr val="F5F4F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1874401" y="3848100"/>
            <a:ext cx="55041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03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11874401" y="4267200"/>
            <a:ext cx="5154000" cy="95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100625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3150"/>
              <a:buFont typeface="Arial"/>
              <a:buNone/>
            </a:pPr>
            <a:r>
              <a:rPr b="1" lang="en-US" sz="3150">
                <a:solidFill>
                  <a:srgbClr val="F5F4F0"/>
                </a:solidFill>
              </a:rPr>
              <a:t>Testes</a:t>
            </a:r>
            <a:endParaRPr sz="3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5" name="Google Shape;27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738" y="5041250"/>
            <a:ext cx="4188625" cy="497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06525" y="5301600"/>
            <a:ext cx="6902050" cy="203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800825" y="4936650"/>
            <a:ext cx="5301152" cy="475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5171C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/>
          <p:nvPr/>
        </p:nvSpPr>
        <p:spPr>
          <a:xfrm>
            <a:off x="95250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1F4FA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4"/>
          <p:cNvSpPr/>
          <p:nvPr/>
        </p:nvSpPr>
        <p:spPr>
          <a:xfrm>
            <a:off x="142875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D93A3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1905000" y="866775"/>
            <a:ext cx="419100" cy="95400"/>
          </a:xfrm>
          <a:prstGeom prst="roundRect">
            <a:avLst>
              <a:gd fmla="val 50000" name="adj"/>
            </a:avLst>
          </a:prstGeom>
          <a:solidFill>
            <a:srgbClr val="F07A5A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2552700" y="762000"/>
            <a:ext cx="11643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9ACB4"/>
              </a:buClr>
              <a:buSzPts val="1800"/>
              <a:buFont typeface="Courier New"/>
              <a:buNone/>
            </a:pPr>
            <a:r>
              <a:rPr lang="en-US" sz="1800">
                <a:solidFill>
                  <a:srgbClr val="A9ACB4"/>
                </a:solidFill>
                <a:latin typeface="Courier New"/>
                <a:ea typeface="Courier New"/>
                <a:cs typeface="Courier New"/>
                <a:sym typeface="Courier New"/>
              </a:rPr>
              <a:t>12 / 12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/>
          <p:nvPr/>
        </p:nvSpPr>
        <p:spPr>
          <a:xfrm>
            <a:off x="952500" y="4533900"/>
            <a:ext cx="109632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lnSpc>
                <a:spcPct val="91304"/>
              </a:lnSpc>
              <a:spcBef>
                <a:spcPts val="0"/>
              </a:spcBef>
              <a:spcAft>
                <a:spcPts val="0"/>
              </a:spcAft>
              <a:buClr>
                <a:srgbClr val="F5F4F0"/>
              </a:buClr>
              <a:buSzPts val="6000"/>
              <a:buFont typeface="Arial"/>
              <a:buNone/>
            </a:pPr>
            <a:r>
              <a:rPr b="1" lang="en-US" sz="6000">
                <a:solidFill>
                  <a:srgbClr val="F5F4F0"/>
                </a:solidFill>
              </a:rPr>
              <a:t>Obrigado…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5826978" y="8401050"/>
            <a:ext cx="1659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BD1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C9CBD1"/>
                </a:solidFill>
                <a:latin typeface="Arial"/>
                <a:ea typeface="Arial"/>
                <a:cs typeface="Arial"/>
                <a:sym typeface="Arial"/>
              </a:rPr>
              <a:t>Lucas Carmo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3906500" y="8801100"/>
            <a:ext cx="37719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BD1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C9CBD1"/>
                </a:solidFill>
                <a:latin typeface="Arial"/>
                <a:ea typeface="Arial"/>
                <a:cs typeface="Arial"/>
                <a:sym typeface="Arial"/>
              </a:rPr>
              <a:t>Gian Lucca Campanha Ribeiro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15643473" y="9201150"/>
            <a:ext cx="18612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25400" spcFirstLastPara="1" rIns="25400" wrap="square" tIns="254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CBD1"/>
              </a:buClr>
              <a:buSzPts val="2100"/>
              <a:buFont typeface="Arial"/>
              <a:buNone/>
            </a:pPr>
            <a:r>
              <a:rPr lang="en-US" sz="2100">
                <a:solidFill>
                  <a:srgbClr val="C9CBD1"/>
                </a:solidFill>
                <a:latin typeface="Arial"/>
                <a:ea typeface="Arial"/>
                <a:cs typeface="Arial"/>
                <a:sym typeface="Arial"/>
              </a:rPr>
              <a:t>Gabriel Medina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